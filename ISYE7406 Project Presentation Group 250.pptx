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  <p:sldMasterId id="214748368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Young Serif"/>
      <p:regular r:id="rId24"/>
    </p:embeddedFont>
    <p:embeddedFont>
      <p:font typeface="Rubik"/>
      <p:regular r:id="rId25"/>
      <p:bold r:id="rId26"/>
      <p:italic r:id="rId27"/>
      <p:boldItalic r:id="rId28"/>
    </p:embeddedFont>
    <p:embeddedFont>
      <p:font typeface="Rubik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YoungSerif-regular.fntdata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ubik-bold.fntdata"/><Relationship Id="rId25" Type="http://schemas.openxmlformats.org/officeDocument/2006/relationships/font" Target="fonts/Rubik-regular.fntdata"/><Relationship Id="rId28" Type="http://schemas.openxmlformats.org/officeDocument/2006/relationships/font" Target="fonts/Rubik-boldItalic.fntdata"/><Relationship Id="rId27" Type="http://schemas.openxmlformats.org/officeDocument/2006/relationships/font" Target="fonts/Rubik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ubik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ubikSemiBold-italic.fntdata"/><Relationship Id="rId30" Type="http://schemas.openxmlformats.org/officeDocument/2006/relationships/font" Target="fonts/Rubik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Rubik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3ffac265e9_0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3ffac265e9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404fede7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404fede7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04fede7d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404fede7d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04fede7d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404fede7d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404fede7d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404fede7d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404fede7d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404fede7d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404fede7d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404fede7d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404fede7d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404fede7d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404fede7d7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404fede7d7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404fede7d7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404fede7d7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404fede7d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404fede7d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404fede7d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404fede7d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404fede7d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404fede7d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404fede7d7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404fede7d7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404fede7d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404fede7d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404fede7d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404fede7d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404fede7d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404fede7d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2369850" y="3221650"/>
            <a:ext cx="4404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4" name="Google Shape;84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" name="Google Shape;85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  <a:defRPr/>
            </a:lvl1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 algn="ctr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 algn="ctr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 algn="ctr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06" name="Google Shape;106;p2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1" name="Google Shape;121;p2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SzPts val="1350"/>
              <a:buChar char="●"/>
              <a:defRPr/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SzPts val="1350"/>
              <a:buChar char="○"/>
              <a:defRPr/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SzPts val="1350"/>
              <a:buChar char="■"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1" name="Google Shape;131;p2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34" name="Google Shape;134;p2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" name="Google Shape;137;p2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0" name="Google Shape;14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3" name="Google Shape;143;p2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3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8" name="Google Shape;148;p3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9" name="Google Shape;149;p3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53" name="Google Shape;153;p3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4" name="Google Shape;154;p3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5" name="Google Shape;155;p3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3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3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3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68" name="Google Shape;168;p3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 type="tx">
  <p:cSld name="TITLE_AND_BODY"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33"/>
          <p:cNvSpPr/>
          <p:nvPr>
            <p:ph idx="2" type="pic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3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5" name="Google Shape;175;p3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two columns" type="twoColTx">
  <p:cSld name="TITLE_AND_TWO_COLUMNS"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4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9" name="Google Shape;179;p3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0" name="Google Shape;180;p34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227150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82" name="Google Shape;182;p34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3" name="Google Shape;183;p34"/>
          <p:cNvSpPr/>
          <p:nvPr/>
        </p:nvSpPr>
        <p:spPr>
          <a:xfrm>
            <a:off x="4685575" y="1762300"/>
            <a:ext cx="42297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84" name="Google Shape;184;p34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b="1" sz="1400">
                <a:solidFill>
                  <a:schemeClr val="lt2"/>
                </a:solidFill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 b="1" sz="1400">
                <a:solidFill>
                  <a:schemeClr val="lt2"/>
                </a:solidFill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 b="1" sz="1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5" name="Google Shape;185;p34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>
  <p:cSld name="CUSTOM"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8" name="Google Shape;188;p3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9" name="Google Shape;189;p35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0" name="Google Shape;190;p35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1" name="Google Shape;191;p35"/>
          <p:cNvSpPr/>
          <p:nvPr/>
        </p:nvSpPr>
        <p:spPr>
          <a:xfrm>
            <a:off x="228450" y="1762300"/>
            <a:ext cx="86868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2" name="Google Shape;192;p35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one column and image">
  <p:cSld name="CUSTOM_1"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6" name="Google Shape;196;p3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7" name="Google Shape;197;p36"/>
          <p:cNvSpPr/>
          <p:nvPr/>
        </p:nvSpPr>
        <p:spPr>
          <a:xfrm>
            <a:off x="228600" y="1092900"/>
            <a:ext cx="8686800" cy="441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98" name="Google Shape;198;p36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9" name="Google Shape;199;p36"/>
          <p:cNvSpPr/>
          <p:nvPr>
            <p:ph idx="2" type="pic"/>
          </p:nvPr>
        </p:nvSpPr>
        <p:spPr>
          <a:xfrm>
            <a:off x="4685900" y="1762300"/>
            <a:ext cx="4229400" cy="31524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36"/>
          <p:cNvSpPr/>
          <p:nvPr/>
        </p:nvSpPr>
        <p:spPr>
          <a:xfrm>
            <a:off x="228450" y="1762300"/>
            <a:ext cx="4229400" cy="315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1" name="Google Shape;201;p36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1pPr>
            <a:lvl2pPr indent="-314325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2pPr>
            <a:lvl3pPr indent="-314325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3pPr>
            <a:lvl4pPr indent="-314325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4pPr>
            <a:lvl5pPr indent="-314325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5pPr>
            <a:lvl6pPr indent="-314325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6pPr>
            <a:lvl7pPr indent="-314325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  <a:defRPr>
                <a:solidFill>
                  <a:schemeClr val="lt2"/>
                </a:solidFill>
              </a:defRPr>
            </a:lvl7pPr>
            <a:lvl8pPr indent="-314325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  <a:defRPr>
                <a:solidFill>
                  <a:schemeClr val="lt2"/>
                </a:solidFill>
              </a:defRPr>
            </a:lvl8pPr>
            <a:lvl9pPr indent="-314325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2" name="Google Shape;202;p36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1">
  <p:cSld name="CUSTOM_2"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05" name="Google Shape;205;p3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6" name="Google Shape;206;p37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07" name="Google Shape;207;p37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8" name="Google Shape;208;p37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7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0" name="Google Shape;210;p37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1" name="Google Shape;211;p37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2" name="Google Shape;212;p37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3" name="Google Shape;213;p37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2">
  <p:cSld name="CUSTOM_2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16" name="Google Shape;216;p3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7" name="Google Shape;217;p38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8"/>
          <p:cNvSpPr/>
          <p:nvPr/>
        </p:nvSpPr>
        <p:spPr>
          <a:xfrm>
            <a:off x="614670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19" name="Google Shape;219;p38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20" name="Google Shape;220;p38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21" name="Google Shape;221;p38"/>
          <p:cNvSpPr txBox="1"/>
          <p:nvPr>
            <p:ph idx="1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2" name="Google Shape;222;p38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3" name="Google Shape;223;p38"/>
          <p:cNvSpPr txBox="1"/>
          <p:nvPr>
            <p:ph idx="3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4" name="Google Shape;224;p38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3">
  <p:cSld name="CUSTOM_2_1_1"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27" name="Google Shape;227;p39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8" name="Google Shape;228;p39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39"/>
          <p:cNvSpPr/>
          <p:nvPr/>
        </p:nvSpPr>
        <p:spPr>
          <a:xfrm>
            <a:off x="228600" y="1322476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0" name="Google Shape;230;p39"/>
          <p:cNvSpPr/>
          <p:nvPr/>
        </p:nvSpPr>
        <p:spPr>
          <a:xfrm>
            <a:off x="3187650" y="1322450"/>
            <a:ext cx="2768700" cy="15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1" name="Google Shape;231;p39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32" name="Google Shape;232;p39"/>
          <p:cNvSpPr txBox="1"/>
          <p:nvPr>
            <p:ph idx="1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3" name="Google Shape;233;p39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34" name="Google Shape;234;p39"/>
          <p:cNvSpPr txBox="1"/>
          <p:nvPr>
            <p:ph idx="3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5" name="Google Shape;235;p3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hree columns and image 4">
  <p:cSld name="CUSTOM_2_1_1_1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38" name="Google Shape;238;p40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9" name="Google Shape;239;p40"/>
          <p:cNvSpPr/>
          <p:nvPr>
            <p:ph idx="2" type="pic"/>
          </p:nvPr>
        </p:nvSpPr>
        <p:spPr>
          <a:xfrm>
            <a:off x="228600" y="3062975"/>
            <a:ext cx="8686800" cy="18519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40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40"/>
          <p:cNvSpPr/>
          <p:nvPr/>
        </p:nvSpPr>
        <p:spPr>
          <a:xfrm>
            <a:off x="2286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42" name="Google Shape;242;p40"/>
          <p:cNvSpPr txBox="1"/>
          <p:nvPr>
            <p:ph idx="1" type="subTitle"/>
          </p:nvPr>
        </p:nvSpPr>
        <p:spPr>
          <a:xfrm>
            <a:off x="2286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3" name="Google Shape;243;p40"/>
          <p:cNvSpPr/>
          <p:nvPr/>
        </p:nvSpPr>
        <p:spPr>
          <a:xfrm>
            <a:off x="2286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4" name="Google Shape;244;p40"/>
          <p:cNvSpPr txBox="1"/>
          <p:nvPr>
            <p:ph idx="3" type="body"/>
          </p:nvPr>
        </p:nvSpPr>
        <p:spPr>
          <a:xfrm>
            <a:off x="2286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5" name="Google Shape;245;p40"/>
          <p:cNvSpPr/>
          <p:nvPr/>
        </p:nvSpPr>
        <p:spPr>
          <a:xfrm>
            <a:off x="318765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46" name="Google Shape;246;p40"/>
          <p:cNvSpPr txBox="1"/>
          <p:nvPr>
            <p:ph idx="4" type="subTitle"/>
          </p:nvPr>
        </p:nvSpPr>
        <p:spPr>
          <a:xfrm>
            <a:off x="318765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7" name="Google Shape;247;p40"/>
          <p:cNvSpPr/>
          <p:nvPr/>
        </p:nvSpPr>
        <p:spPr>
          <a:xfrm>
            <a:off x="318765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48" name="Google Shape;248;p40"/>
          <p:cNvSpPr txBox="1"/>
          <p:nvPr>
            <p:ph idx="5" type="body"/>
          </p:nvPr>
        </p:nvSpPr>
        <p:spPr>
          <a:xfrm>
            <a:off x="318765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9" name="Google Shape;249;p40"/>
          <p:cNvSpPr/>
          <p:nvPr/>
        </p:nvSpPr>
        <p:spPr>
          <a:xfrm>
            <a:off x="6146700" y="1322475"/>
            <a:ext cx="2768700" cy="45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50" name="Google Shape;250;p40"/>
          <p:cNvSpPr txBox="1"/>
          <p:nvPr>
            <p:ph idx="6" type="subTitle"/>
          </p:nvPr>
        </p:nvSpPr>
        <p:spPr>
          <a:xfrm>
            <a:off x="6146700" y="1322450"/>
            <a:ext cx="2768700" cy="450900"/>
          </a:xfrm>
          <a:prstGeom prst="rect">
            <a:avLst/>
          </a:prstGeom>
        </p:spPr>
        <p:txBody>
          <a:bodyPr anchorCtr="0" anchor="ctr" bIns="91425" lIns="1714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1" name="Google Shape;251;p40"/>
          <p:cNvSpPr/>
          <p:nvPr/>
        </p:nvSpPr>
        <p:spPr>
          <a:xfrm>
            <a:off x="6146700" y="1756113"/>
            <a:ext cx="2768700" cy="10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52" name="Google Shape;252;p40"/>
          <p:cNvSpPr txBox="1"/>
          <p:nvPr>
            <p:ph idx="7" type="body"/>
          </p:nvPr>
        </p:nvSpPr>
        <p:spPr>
          <a:xfrm>
            <a:off x="6146700" y="1809225"/>
            <a:ext cx="2768700" cy="979800"/>
          </a:xfrm>
          <a:prstGeom prst="rect">
            <a:avLst/>
          </a:prstGeom>
        </p:spPr>
        <p:txBody>
          <a:bodyPr anchorCtr="0" anchor="t" bIns="91425" lIns="11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CUSTOM_3">
    <p:bg>
      <p:bgPr>
        <a:solidFill>
          <a:schemeClr val="dk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</a:pPr>
            <a:r>
              <a:t/>
            </a:r>
            <a:endParaRPr sz="5600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255" name="Google Shape;255;p41"/>
          <p:cNvSpPr txBox="1"/>
          <p:nvPr>
            <p:ph type="title"/>
          </p:nvPr>
        </p:nvSpPr>
        <p:spPr>
          <a:xfrm>
            <a:off x="1248900" y="1777350"/>
            <a:ext cx="6646200" cy="158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6" name="Google Shape;256;p4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4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Young Serif"/>
              <a:buNone/>
              <a:defRPr sz="4000">
                <a:solidFill>
                  <a:schemeClr val="dk1"/>
                </a:solidFill>
                <a:latin typeface="Young Serif"/>
                <a:ea typeface="Young Serif"/>
                <a:cs typeface="Young Serif"/>
                <a:sym typeface="Young Serif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8144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432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1432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1432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1432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1432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1432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1432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●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1432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○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1432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Rubik"/>
              <a:buChar char="■"/>
              <a:defRPr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i.org/10.22214/ijraset.2023.50140" TargetMode="External"/><Relationship Id="rId4" Type="http://schemas.openxmlformats.org/officeDocument/2006/relationships/hyperlink" Target="https://doi.org/10.1007/s10754-022-09338-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1248900" y="1208950"/>
            <a:ext cx="6646200" cy="23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ISYE 7406 Project Presentation Group 250</a:t>
            </a:r>
            <a:endParaRPr/>
          </a:p>
        </p:txBody>
      </p:sp>
      <p:sp>
        <p:nvSpPr>
          <p:cNvPr id="263" name="Google Shape;263;p43"/>
          <p:cNvSpPr txBox="1"/>
          <p:nvPr>
            <p:ph idx="1" type="subTitle"/>
          </p:nvPr>
        </p:nvSpPr>
        <p:spPr>
          <a:xfrm>
            <a:off x="2369850" y="3540950"/>
            <a:ext cx="44043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Nathan Chan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69" name="Google Shape;269;p44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Life Expectancy is a key indicator of a country’s health and wellbeing, and economic development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Studies in the past have shown correlations between socioeconomic and health-related outcomes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Identifying the key determinants of life expectancy can inform us of improved resource allocation, for the betterment of society’s health</a:t>
            </a:r>
            <a:endParaRPr/>
          </a:p>
        </p:txBody>
      </p:sp>
      <p:sp>
        <p:nvSpPr>
          <p:cNvPr id="270" name="Google Shape;270;p44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Life Expectancy? Why do we care?</a:t>
            </a:r>
            <a:endParaRPr/>
          </a:p>
        </p:txBody>
      </p:sp>
      <p:pic>
        <p:nvPicPr>
          <p:cNvPr id="271" name="Google Shape;27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8768" y="3231843"/>
            <a:ext cx="2903150" cy="163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Goals</a:t>
            </a:r>
            <a:endParaRPr/>
          </a:p>
        </p:txBody>
      </p:sp>
      <p:sp>
        <p:nvSpPr>
          <p:cNvPr id="277" name="Google Shape;277;p45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Objectives: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Examine the discourse surrounding a country’s economic development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4. Attempt to assign labels to  economic development</a:t>
            </a:r>
            <a:endParaRPr/>
          </a:p>
        </p:txBody>
      </p:sp>
      <p:sp>
        <p:nvSpPr>
          <p:cNvPr id="278" name="Google Shape;278;p45"/>
          <p:cNvSpPr txBox="1"/>
          <p:nvPr>
            <p:ph idx="2" type="body"/>
          </p:nvPr>
        </p:nvSpPr>
        <p:spPr>
          <a:xfrm>
            <a:off x="679100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Goals: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Identify significant predictors of life expectancy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2. </a:t>
            </a:r>
            <a:r>
              <a:rPr lang="en"/>
              <a:t>Compare performances and identifying best model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“</a:t>
            </a:r>
            <a:r>
              <a:rPr lang="en"/>
              <a:t>Life Expectancy using Data Analytics”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Uses a similar dataset to the one I use (the original WHO life expectancy dataset on Kaggle)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This dataset contains many null values. Their approach was to use the mean value of the column for numerical values, and mode for string features.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Multiple model comparisons including regressions (MLR and ML algorithms)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b="1" lang="en"/>
              <a:t>Random Forest Regressor was chosen for its highest accuracy</a:t>
            </a:r>
            <a:endParaRPr b="1"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Best predictive power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Key predictors: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GDP per capita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Alcohol consumption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Prevalence of diseases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Immunization coverage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No cross-validation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No baseline model/method to compare (e.g. basic SLR)</a:t>
            </a:r>
            <a:endParaRPr/>
          </a:p>
        </p:txBody>
      </p:sp>
      <p:sp>
        <p:nvSpPr>
          <p:cNvPr id="284" name="Google Shape;284;p46"/>
          <p:cNvSpPr txBox="1"/>
          <p:nvPr>
            <p:ph idx="4294967295" type="subTitle"/>
          </p:nvPr>
        </p:nvSpPr>
        <p:spPr>
          <a:xfrm>
            <a:off x="6376800" y="342125"/>
            <a:ext cx="2455500" cy="77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Deshpande et al. (2023)</a:t>
            </a:r>
            <a:endParaRPr/>
          </a:p>
        </p:txBody>
      </p:sp>
      <p:sp>
        <p:nvSpPr>
          <p:cNvPr id="285" name="Google Shape;28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Longitudinal study on OECD countries on determinants of life expectancy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Uses </a:t>
            </a:r>
            <a:r>
              <a:rPr lang="en"/>
              <a:t>backward stepwise selection, and Arellano–Bond estimators to address endogeneity concerns. Also introduces lagged variables (1-5 years).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Cross-country FE multiple regression analysis 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Key predictors: 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Education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Public health services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Physician density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Hospital bed density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Stated limitations: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Data availability resulting in omitted variable bias (model may not include a potentially significant variable had the data been collected for it)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Limited to OECD countries, may not have the same explanatory power for other countries.</a:t>
            </a:r>
            <a:endParaRPr/>
          </a:p>
        </p:txBody>
      </p:sp>
      <p:sp>
        <p:nvSpPr>
          <p:cNvPr id="291" name="Google Shape;291;p47"/>
          <p:cNvSpPr txBox="1"/>
          <p:nvPr>
            <p:ph idx="4294967295" type="subTitle"/>
          </p:nvPr>
        </p:nvSpPr>
        <p:spPr>
          <a:xfrm>
            <a:off x="6376800" y="342125"/>
            <a:ext cx="2455500" cy="77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Roffia et al. (2022)</a:t>
            </a:r>
            <a:endParaRPr/>
          </a:p>
        </p:txBody>
      </p:sp>
      <p:sp>
        <p:nvSpPr>
          <p:cNvPr id="292" name="Google Shape;29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 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</a:t>
            </a:r>
            <a:endParaRPr/>
          </a:p>
        </p:txBody>
      </p:sp>
      <p:sp>
        <p:nvSpPr>
          <p:cNvPr id="298" name="Google Shape;298;p48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Dataset: Life Expectancy WHO (Updated)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0" lang="en"/>
              <a:t>Derived from another Kaggle dataset</a:t>
            </a:r>
            <a:endParaRPr b="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/>
              <a:t>Data sourced from WHO, World Bank, Our World in Data</a:t>
            </a:r>
            <a:endParaRPr b="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/>
              <a:t>Panel data</a:t>
            </a:r>
            <a:endParaRPr b="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"/>
              <a:t>2000 - 2015 (16 years)</a:t>
            </a:r>
            <a:endParaRPr b="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"/>
              <a:t>179 countries</a:t>
            </a:r>
            <a:endParaRPr b="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"/>
              <a:t>2864 observations</a:t>
            </a:r>
            <a:endParaRPr b="0"/>
          </a:p>
        </p:txBody>
      </p:sp>
      <p:sp>
        <p:nvSpPr>
          <p:cNvPr id="299" name="Google Shape;299;p48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Pre-processing</a:t>
            </a:r>
            <a:endParaRPr/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0" lang="en"/>
              <a:t>Addresses imputation methods</a:t>
            </a:r>
            <a:endParaRPr b="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0" lang="en"/>
              <a:t>Country’s missing value in any year: closest 3-yr avg</a:t>
            </a:r>
            <a:endParaRPr b="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0" lang="en"/>
              <a:t>Country’s missing value in all years: average of the Region</a:t>
            </a:r>
            <a:endParaRPr b="0"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lang="en"/>
              <a:t>Omission of certain countries which were missing more than 4 columns/variables (14 countries)</a:t>
            </a:r>
            <a:endParaRPr b="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0" lang="en"/>
              <a:t>Difficulty obtaining data</a:t>
            </a:r>
            <a:endParaRPr b="0"/>
          </a:p>
        </p:txBody>
      </p:sp>
      <p:sp>
        <p:nvSpPr>
          <p:cNvPr id="300" name="Google Shape;300;p48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https://www.kaggle.com/datasets/lashagoch/life-expectancy-who-updated/data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49" title="basic dataset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1143" r="11143" t="0"/>
          <a:stretch/>
        </p:blipFill>
        <p:spPr>
          <a:xfrm>
            <a:off x="311700" y="796400"/>
            <a:ext cx="8520601" cy="4218300"/>
          </a:xfrm>
          <a:prstGeom prst="rect">
            <a:avLst/>
          </a:prstGeom>
        </p:spPr>
      </p:pic>
      <p:sp>
        <p:nvSpPr>
          <p:cNvPr id="306" name="Google Shape;306;p49"/>
          <p:cNvSpPr txBox="1"/>
          <p:nvPr>
            <p:ph idx="4294967295" type="title"/>
          </p:nvPr>
        </p:nvSpPr>
        <p:spPr>
          <a:xfrm>
            <a:off x="590650" y="0"/>
            <a:ext cx="7836900" cy="8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Snippet of Dataset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0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312" name="Google Shape;312;p50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078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Comparison of LE (Life Expectancy) by Region in 2001 and 2015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Good news! Overall increases in LE across all regions</a:t>
            </a:r>
            <a:endParaRPr b="1"/>
          </a:p>
          <a:p>
            <a:pPr indent="-30789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Africa and Asia have the largest IQR and ranges</a:t>
            </a:r>
            <a:endParaRPr/>
          </a:p>
          <a:p>
            <a:pPr indent="-30789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Great disparity between developed and developing countries</a:t>
            </a:r>
            <a:endParaRPr/>
          </a:p>
          <a:p>
            <a:pPr indent="-30789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Potential difficulties in classifying economic development based on regions alone</a:t>
            </a:r>
            <a:endParaRPr/>
          </a:p>
        </p:txBody>
      </p:sp>
      <p:sp>
        <p:nvSpPr>
          <p:cNvPr id="313" name="Google Shape;313;p50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Life Expectancy by Region</a:t>
            </a:r>
            <a:endParaRPr/>
          </a:p>
        </p:txBody>
      </p:sp>
      <p:sp>
        <p:nvSpPr>
          <p:cNvPr id="314" name="Google Shape;314;p50"/>
          <p:cNvSpPr/>
          <p:nvPr>
            <p:ph idx="2" type="pic"/>
          </p:nvPr>
        </p:nvSpPr>
        <p:spPr>
          <a:xfrm>
            <a:off x="4685900" y="1762300"/>
            <a:ext cx="4229400" cy="3152400"/>
          </a:xfrm>
          <a:prstGeom prst="rect">
            <a:avLst/>
          </a:prstGeom>
        </p:spPr>
      </p:sp>
      <p:pic>
        <p:nvPicPr>
          <p:cNvPr id="315" name="Google Shape;31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900" y="1762300"/>
            <a:ext cx="4229400" cy="3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1% increase in GDP per capita on LE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Transformation is beneficial here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/>
              <a:t>Log GDP</a:t>
            </a:r>
            <a:r>
              <a:rPr b="1" lang="en"/>
              <a:t> is selected and replaces GDP/capita because of the nonlinear relationship</a:t>
            </a:r>
            <a:endParaRPr b="1"/>
          </a:p>
        </p:txBody>
      </p:sp>
      <p:sp>
        <p:nvSpPr>
          <p:cNvPr id="321" name="Google Shape;321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Shows a nonlinear relationship (clear diminishing returns for every unit increase in GDP)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Simpler</a:t>
            </a:r>
            <a:endParaRPr/>
          </a:p>
        </p:txBody>
      </p:sp>
      <p:sp>
        <p:nvSpPr>
          <p:cNvPr id="322" name="Google Shape;322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Log(GDP per capita) vs. LE</a:t>
            </a:r>
            <a:endParaRPr/>
          </a:p>
        </p:txBody>
      </p:sp>
      <p:sp>
        <p:nvSpPr>
          <p:cNvPr id="323" name="Google Shape;323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</p:spPr>
      </p:sp>
      <p:sp>
        <p:nvSpPr>
          <p:cNvPr id="324" name="Google Shape;324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</p:spPr>
      </p:sp>
      <p:sp>
        <p:nvSpPr>
          <p:cNvPr id="325" name="Google Shape;32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GDP Per Capita Question</a:t>
            </a:r>
            <a:endParaRPr/>
          </a:p>
        </p:txBody>
      </p:sp>
      <p:sp>
        <p:nvSpPr>
          <p:cNvPr id="326" name="Google Shape;326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GDP per capita vs. LE</a:t>
            </a:r>
            <a:endParaRPr/>
          </a:p>
        </p:txBody>
      </p:sp>
      <p:pic>
        <p:nvPicPr>
          <p:cNvPr id="327" name="Google Shape;32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334" name="Google Shape;334;p52"/>
          <p:cNvSpPr txBox="1"/>
          <p:nvPr>
            <p:ph idx="3" type="body"/>
          </p:nvPr>
        </p:nvSpPr>
        <p:spPr>
          <a:xfrm>
            <a:off x="456400" y="1983350"/>
            <a:ext cx="37803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Strong positive correlations: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Schooling vs. GDP per capita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Strong negative correlations: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Mortality factors among each other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Weak correlations: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Vaccination rates vs. economic development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To address multicollinearity proven by VIF, certain factors were removed</a:t>
            </a:r>
            <a:endParaRPr/>
          </a:p>
        </p:txBody>
      </p:sp>
      <p:sp>
        <p:nvSpPr>
          <p:cNvPr id="335" name="Google Shape;335;p52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Matrix</a:t>
            </a:r>
            <a:endParaRPr/>
          </a:p>
        </p:txBody>
      </p:sp>
      <p:sp>
        <p:nvSpPr>
          <p:cNvPr id="336" name="Google Shape;336;p52"/>
          <p:cNvSpPr/>
          <p:nvPr>
            <p:ph idx="2" type="pic"/>
          </p:nvPr>
        </p:nvSpPr>
        <p:spPr>
          <a:xfrm>
            <a:off x="4685900" y="1762300"/>
            <a:ext cx="4229400" cy="3152400"/>
          </a:xfrm>
          <a:prstGeom prst="rect">
            <a:avLst/>
          </a:prstGeom>
        </p:spPr>
      </p:sp>
      <p:pic>
        <p:nvPicPr>
          <p:cNvPr id="337" name="Google Shape;337;p52"/>
          <p:cNvPicPr preferRelativeResize="0"/>
          <p:nvPr/>
        </p:nvPicPr>
        <p:blipFill rotWithShape="1">
          <a:blip r:embed="rId3">
            <a:alphaModFix/>
          </a:blip>
          <a:srcRect b="0" l="12418" r="16579" t="12648"/>
          <a:stretch/>
        </p:blipFill>
        <p:spPr>
          <a:xfrm>
            <a:off x="4685900" y="1762300"/>
            <a:ext cx="4229400" cy="3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343" name="Google Shape;343;p53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to explore: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1. Linear Regression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AIC Stepwise Regression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KNN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LOESS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 Random Forest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6. GBM Boosting</a:t>
            </a:r>
            <a:endParaRPr/>
          </a:p>
        </p:txBody>
      </p:sp>
      <p:sp>
        <p:nvSpPr>
          <p:cNvPr id="344" name="Google Shape;344;p53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Time-aware train-test split of 80/20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Train: 2001 - 2012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Test: 2013 - 2015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Addresses time factor of dataset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Monte carlo cross validation (100 iterations) to ensure robustness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Parameter tuning is addressed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K-means clustering to observe how to identify a country’s state of economic development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4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Model Performance</a:t>
            </a:r>
            <a:endParaRPr/>
          </a:p>
        </p:txBody>
      </p:sp>
      <p:sp>
        <p:nvSpPr>
          <p:cNvPr id="350" name="Google Shape;350;p54"/>
          <p:cNvSpPr txBox="1"/>
          <p:nvPr>
            <p:ph idx="1" type="body"/>
          </p:nvPr>
        </p:nvSpPr>
        <p:spPr>
          <a:xfrm>
            <a:off x="688450" y="2431200"/>
            <a:ext cx="3309900" cy="23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1: Single run TE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GBM best performer, followed by Random Forest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Linear Regression and AIC stepwise are the worst performers (baseline)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Dataset requires sophisticated modeling methods, beyond linear regression</a:t>
            </a:r>
            <a:endParaRPr/>
          </a:p>
        </p:txBody>
      </p:sp>
      <p:sp>
        <p:nvSpPr>
          <p:cNvPr id="351" name="Google Shape;351;p54"/>
          <p:cNvSpPr txBox="1"/>
          <p:nvPr>
            <p:ph idx="2" type="body"/>
          </p:nvPr>
        </p:nvSpPr>
        <p:spPr>
          <a:xfrm>
            <a:off x="5146875" y="2431200"/>
            <a:ext cx="3309900" cy="23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2: MCCV = 100, average TE and variance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Largely the same results, with RandomForest performing the best and GBM Boosting not far behind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Concurs with Literature Review 1</a:t>
            </a:r>
            <a:endParaRPr/>
          </a:p>
        </p:txBody>
      </p:sp>
      <p:pic>
        <p:nvPicPr>
          <p:cNvPr id="352" name="Google Shape;35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825" y="1094395"/>
            <a:ext cx="3847150" cy="133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4412" y="1094400"/>
            <a:ext cx="3734836" cy="13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5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Clustering</a:t>
            </a:r>
            <a:endParaRPr/>
          </a:p>
        </p:txBody>
      </p:sp>
      <p:sp>
        <p:nvSpPr>
          <p:cNvPr id="359" name="Google Shape;359;p55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5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5"/>
          <p:cNvSpPr txBox="1"/>
          <p:nvPr>
            <p:ph idx="3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ubik"/>
                <a:ea typeface="Rubik"/>
                <a:cs typeface="Rubik"/>
                <a:sym typeface="Rubik"/>
              </a:rPr>
              <a:t>Only utilizes 2015 data because it is most recent, and would be a fairer comparison to the existing classification of the Developed variable sourced from the UN’s labeling choices in 2014. Features utilized: Country, Log GDP/capita, Schooling, Alcohol consumption, BMI, Hepatitis B, Diphtheria, Adult mortality, under five deaths</a:t>
            </a:r>
            <a:endParaRPr sz="800"/>
          </a:p>
        </p:txBody>
      </p:sp>
      <p:pic>
        <p:nvPicPr>
          <p:cNvPr id="362" name="Google Shape;36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50" y="1763250"/>
            <a:ext cx="4223950" cy="315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7850" y="1763250"/>
            <a:ext cx="4223950" cy="315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4" name="Google Shape;364;p55"/>
          <p:cNvCxnSpPr>
            <a:stCxn id="365" idx="0"/>
          </p:cNvCxnSpPr>
          <p:nvPr/>
        </p:nvCxnSpPr>
        <p:spPr>
          <a:xfrm flipH="1" rot="10800000">
            <a:off x="1076550" y="3588625"/>
            <a:ext cx="444900" cy="51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" name="Google Shape;365;p55"/>
          <p:cNvSpPr txBox="1"/>
          <p:nvPr/>
        </p:nvSpPr>
        <p:spPr>
          <a:xfrm>
            <a:off x="515850" y="4104325"/>
            <a:ext cx="1121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Developing</a:t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366" name="Google Shape;366;p55"/>
          <p:cNvCxnSpPr>
            <a:stCxn id="367" idx="0"/>
          </p:cNvCxnSpPr>
          <p:nvPr/>
        </p:nvCxnSpPr>
        <p:spPr>
          <a:xfrm rot="10800000">
            <a:off x="2885663" y="3379275"/>
            <a:ext cx="448500" cy="530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7" name="Google Shape;367;p55"/>
          <p:cNvSpPr txBox="1"/>
          <p:nvPr/>
        </p:nvSpPr>
        <p:spPr>
          <a:xfrm>
            <a:off x="2807063" y="3909975"/>
            <a:ext cx="105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Developed</a:t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68" name="Google Shape;368;p55"/>
          <p:cNvSpPr txBox="1"/>
          <p:nvPr/>
        </p:nvSpPr>
        <p:spPr>
          <a:xfrm>
            <a:off x="7474988" y="3763325"/>
            <a:ext cx="105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“Stronger”</a:t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69" name="Google Shape;369;p55"/>
          <p:cNvSpPr txBox="1"/>
          <p:nvPr/>
        </p:nvSpPr>
        <p:spPr>
          <a:xfrm>
            <a:off x="4726700" y="2257250"/>
            <a:ext cx="902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“Middle”</a:t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70" name="Google Shape;370;p55"/>
          <p:cNvSpPr txBox="1"/>
          <p:nvPr/>
        </p:nvSpPr>
        <p:spPr>
          <a:xfrm>
            <a:off x="4856663" y="4210175"/>
            <a:ext cx="105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“Weaker”</a:t>
            </a:r>
            <a:endParaRPr sz="135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cxnSp>
        <p:nvCxnSpPr>
          <p:cNvPr id="371" name="Google Shape;371;p55"/>
          <p:cNvCxnSpPr>
            <a:stCxn id="369" idx="3"/>
          </p:cNvCxnSpPr>
          <p:nvPr/>
        </p:nvCxnSpPr>
        <p:spPr>
          <a:xfrm>
            <a:off x="5629400" y="2453450"/>
            <a:ext cx="693300" cy="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55"/>
          <p:cNvCxnSpPr>
            <a:stCxn id="370" idx="0"/>
          </p:cNvCxnSpPr>
          <p:nvPr/>
        </p:nvCxnSpPr>
        <p:spPr>
          <a:xfrm flipH="1" rot="10800000">
            <a:off x="5383763" y="3715475"/>
            <a:ext cx="297900" cy="49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55"/>
          <p:cNvCxnSpPr>
            <a:stCxn id="368" idx="0"/>
          </p:cNvCxnSpPr>
          <p:nvPr/>
        </p:nvCxnSpPr>
        <p:spPr>
          <a:xfrm rot="10800000">
            <a:off x="7550888" y="3095225"/>
            <a:ext cx="451200" cy="66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6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Clustering (cont.)</a:t>
            </a:r>
            <a:endParaRPr/>
          </a:p>
        </p:txBody>
      </p:sp>
      <p:sp>
        <p:nvSpPr>
          <p:cNvPr id="379" name="Google Shape;379;p56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78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Used the silhouette method to find an optimal of k = 2, but also compared with k = 3 results</a:t>
            </a:r>
            <a:endParaRPr/>
          </a:p>
          <a:p>
            <a:pPr indent="-3078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 = 2 compared to Developed variable</a:t>
            </a:r>
            <a:endParaRPr/>
          </a:p>
          <a:p>
            <a:pPr indent="-30789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TN = 63, FN = 0, TP = 37, FP = 79</a:t>
            </a:r>
            <a:endParaRPr/>
          </a:p>
          <a:p>
            <a:pPr indent="-30789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Accuracy = 56%, Precision = 32%, Recall = 100%, F1 score = 48%</a:t>
            </a:r>
            <a:endParaRPr/>
          </a:p>
          <a:p>
            <a:pPr indent="-30789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63 developing countries correctly identified as developing (true negatives)</a:t>
            </a:r>
            <a:r>
              <a:rPr lang="en"/>
              <a:t>, and </a:t>
            </a:r>
            <a:r>
              <a:rPr b="1" lang="en"/>
              <a:t>no developed countries wrongly identified</a:t>
            </a:r>
            <a:r>
              <a:rPr lang="en"/>
              <a:t> (no false negatives)</a:t>
            </a:r>
            <a:endParaRPr/>
          </a:p>
          <a:p>
            <a:pPr indent="-30789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Lots of false positives. Excellent at identifying what falls under developing, but not great at distinguishing which countries are developed according to the UN.</a:t>
            </a:r>
            <a:endParaRPr/>
          </a:p>
          <a:p>
            <a:pPr indent="-3078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 = 3 </a:t>
            </a:r>
            <a:r>
              <a:rPr lang="en"/>
              <a:t>compared to Developed variable</a:t>
            </a:r>
            <a:endParaRPr/>
          </a:p>
          <a:p>
            <a:pPr indent="-30789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Cluster 1 = stronger, cluster 2 = weaker, cluster 3 = middle</a:t>
            </a:r>
            <a:endParaRPr/>
          </a:p>
          <a:p>
            <a:pPr indent="-30789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Cluster 1: All 37 developed, and </a:t>
            </a:r>
            <a:r>
              <a:rPr b="1" lang="en"/>
              <a:t>75 </a:t>
            </a:r>
            <a:r>
              <a:rPr lang="en"/>
              <a:t>developing (Likely label</a:t>
            </a:r>
            <a:r>
              <a:rPr lang="en"/>
              <a:t>: high &amp; medium-high development)</a:t>
            </a:r>
            <a:endParaRPr/>
          </a:p>
          <a:p>
            <a:pPr indent="-30789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Cluster 2: 16 developing (Likely label: low development)</a:t>
            </a:r>
            <a:endParaRPr/>
          </a:p>
          <a:p>
            <a:pPr indent="-30789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Cluster 3: 51 developing (Likely label: medium development)</a:t>
            </a:r>
            <a:endParaRPr/>
          </a:p>
        </p:txBody>
      </p:sp>
      <p:sp>
        <p:nvSpPr>
          <p:cNvPr id="380" name="Google Shape;380;p56"/>
          <p:cNvSpPr txBox="1"/>
          <p:nvPr>
            <p:ph idx="1" type="subTitle"/>
          </p:nvPr>
        </p:nvSpPr>
        <p:spPr>
          <a:xfrm>
            <a:off x="635500" y="1092900"/>
            <a:ext cx="7836900" cy="44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Analysis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7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86" name="Google Shape;386;p57"/>
          <p:cNvSpPr txBox="1"/>
          <p:nvPr>
            <p:ph idx="2" type="body"/>
          </p:nvPr>
        </p:nvSpPr>
        <p:spPr>
          <a:xfrm>
            <a:off x="456400" y="1983350"/>
            <a:ext cx="8113800" cy="27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Key factors: logGDP/capita, schooling, adult mortality rate, under 5 mortality rate, DTP3 and Hep B vaccination rates, BMI, alcohol consumption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Similar to issues faced in Literature Review, the dataset faces constraints of missing possibly meaningful determinants that were not included in the dataset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Tree-based models performed much better than linear methods in predicting life expectancy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MCCV bolsters the results of tree-based methods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Need to consider more nonlinear approaches (many I.I.D. violations) when dealing with Panel Data</a:t>
            </a:r>
            <a:endParaRPr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/>
              <a:t>K-means clustering revealed 2 and 3 possible groups based on a combination of socioeconomic and health factors</a:t>
            </a:r>
            <a:endParaRPr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SzPts val="1350"/>
              <a:buChar char="○"/>
            </a:pPr>
            <a:r>
              <a:rPr lang="en"/>
              <a:t>Compared to UN’s 2-cluster system, excellent recall but low precision and accuracy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Improvements</a:t>
            </a:r>
            <a:endParaRPr/>
          </a:p>
        </p:txBody>
      </p:sp>
      <p:sp>
        <p:nvSpPr>
          <p:cNvPr id="392" name="Google Shape;392;p58"/>
          <p:cNvSpPr txBox="1"/>
          <p:nvPr>
            <p:ph idx="1" type="body"/>
          </p:nvPr>
        </p:nvSpPr>
        <p:spPr>
          <a:xfrm>
            <a:off x="688450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/>
              <a:t>Explore Panel Data analysis and learning (FE, RE, Mixed)</a:t>
            </a:r>
            <a:endParaRPr b="0"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/>
              <a:t>Conduct similar research on recent years (Covid era)</a:t>
            </a:r>
            <a:endParaRPr b="0"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/>
              <a:t>Introduce time-series analysis, given the nature of panel data</a:t>
            </a:r>
            <a:endParaRPr b="0"/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/>
              <a:t>Explore more determinants (e.g. warfare, physician density)</a:t>
            </a:r>
            <a:endParaRPr b="0"/>
          </a:p>
        </p:txBody>
      </p:sp>
      <p:sp>
        <p:nvSpPr>
          <p:cNvPr id="393" name="Google Shape;393;p58"/>
          <p:cNvSpPr txBox="1"/>
          <p:nvPr>
            <p:ph idx="2" type="body"/>
          </p:nvPr>
        </p:nvSpPr>
        <p:spPr>
          <a:xfrm>
            <a:off x="5146875" y="2146900"/>
            <a:ext cx="3309900" cy="23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/>
              <a:t>Observe and compare other classifications and clustering approaches for economic development</a:t>
            </a:r>
            <a:endParaRPr b="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0" lang="en"/>
              <a:t>e.g. World Bank classifies based on GNI and has 4 levels</a:t>
            </a:r>
            <a:endParaRPr b="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0" lang="en"/>
              <a:t>Research ideal labeling based on the clustering analysis</a:t>
            </a:r>
            <a:endParaRPr b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399" name="Google Shape;399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Deshpande, Dr. R., &amp; Uttarkar, V. (2023). Life expectancy using data analytics. </a:t>
            </a:r>
            <a:r>
              <a:rPr i="1" lang="en"/>
              <a:t>International Journal for Research in Applied Science and Engineering Technology, 11(4), 972–978.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https://doi.org/10.22214/ijraset.2023.50140</a:t>
            </a:r>
            <a:endParaRPr/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Roffia, P., Bucciol, A., &amp; Hashlamoun, S. (2022). Determinants of life expectancy at birth: A longitudinal study on OECD countries. </a:t>
            </a:r>
            <a:r>
              <a:rPr i="1" lang="en"/>
              <a:t>International Journal of Health Economics and Management, 23(2), 189–212.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https://doi.org/10.1007/s10754-022-09338-5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yllabus / Course Overview #1">
  <a:themeElements>
    <a:clrScheme name="Simple Light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